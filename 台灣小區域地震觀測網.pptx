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49EF7-D394-FAFA-EF55-63C61DC64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台灣小區域地震觀測網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A40BFB-4CB9-EF3E-89FF-3631DE5476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即時地震視覺化與社群回報平台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AA9815-9EC8-630B-3758-96A3B3792FD6}"/>
              </a:ext>
            </a:extLst>
          </p:cNvPr>
          <p:cNvSpPr txBox="1"/>
          <p:nvPr/>
        </p:nvSpPr>
        <p:spPr>
          <a:xfrm>
            <a:off x="260350" y="5627913"/>
            <a:ext cx="2842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姓名 </a:t>
            </a:r>
            <a:r>
              <a:rPr lang="en-US" altLang="zh-TW" dirty="0"/>
              <a:t>:</a:t>
            </a:r>
            <a:r>
              <a:rPr lang="zh-TW" altLang="en-US" b="0" i="0" dirty="0">
                <a:effectLst/>
              </a:rPr>
              <a:t>凌嘉謙</a:t>
            </a:r>
            <a:endParaRPr lang="en-US" altLang="zh-TW" dirty="0"/>
          </a:p>
          <a:p>
            <a:r>
              <a:rPr lang="zh-TW" altLang="en-US" dirty="0"/>
              <a:t>學號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b="0" i="0" dirty="0">
                <a:effectLst/>
              </a:rPr>
              <a:t>4b2g0024</a:t>
            </a:r>
            <a:endParaRPr lang="en-US" altLang="zh-TW" dirty="0"/>
          </a:p>
          <a:p>
            <a:r>
              <a:rPr lang="zh-TW" altLang="en-US" b="1" dirty="0"/>
              <a:t>製作日期 </a:t>
            </a:r>
            <a:r>
              <a:rPr lang="en-US" altLang="zh-TW" b="1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2026/01/07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121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68EB465-B5B7-A78C-6BBF-B98A2C2A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主題介紹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289611-76F5-295D-2094-89458E2E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2218267"/>
            <a:ext cx="4996923" cy="576262"/>
          </a:xfrm>
        </p:spPr>
        <p:txBody>
          <a:bodyPr/>
          <a:lstStyle/>
          <a:p>
            <a:r>
              <a:rPr lang="zh-TW" altLang="en-US" dirty="0"/>
              <a:t>專案背景：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6C88180-C907-D9A5-0806-BF72DAC0DA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地震是台灣常見的自然現象，但傳統列表式的數據難以直觀呈現震央分佈與地質構造的關係。</a:t>
            </a:r>
            <a:endParaRPr lang="en-US" altLang="zh-TW" dirty="0"/>
          </a:p>
          <a:p>
            <a:r>
              <a:rPr lang="zh-TW" altLang="en-US" dirty="0"/>
              <a:t>民眾對於地震的感受不僅止於「規模」，更包含主觀的「恐懼程度」與社群共鳴。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FBFEB93A-3862-4AC5-670C-7B39909A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1895" y="2226734"/>
            <a:ext cx="4996922" cy="576262"/>
          </a:xfrm>
        </p:spPr>
        <p:txBody>
          <a:bodyPr/>
          <a:lstStyle/>
          <a:p>
            <a:r>
              <a:rPr lang="zh-TW" altLang="en-US" dirty="0"/>
              <a:t>專案目標：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3069C369-A37E-FF67-21A5-BFA6E0B54B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TW" altLang="en-US" dirty="0"/>
              <a:t>資料整合： 串接中央氣象署 </a:t>
            </a:r>
            <a:r>
              <a:rPr lang="en-US" altLang="zh-TW" dirty="0"/>
              <a:t>Open Data API</a:t>
            </a:r>
            <a:r>
              <a:rPr lang="zh-TW" altLang="en-US" dirty="0"/>
              <a:t>，自動同步最新地震資訊。</a:t>
            </a:r>
            <a:endParaRPr lang="en-US" altLang="zh-TW" dirty="0"/>
          </a:p>
          <a:p>
            <a:r>
              <a:rPr lang="en-US" altLang="zh-TW" dirty="0"/>
              <a:t>GIS </a:t>
            </a:r>
            <a:r>
              <a:rPr lang="zh-TW" altLang="en-US" dirty="0"/>
              <a:t>視覺化： 結合 </a:t>
            </a:r>
            <a:r>
              <a:rPr lang="en-US" altLang="zh-TW" dirty="0"/>
              <a:t>Leaflet.js </a:t>
            </a:r>
            <a:r>
              <a:rPr lang="zh-TW" altLang="en-US" dirty="0"/>
              <a:t>地圖技術，疊加板塊邊界、活動斷層與熱力圖。</a:t>
            </a:r>
            <a:endParaRPr lang="en-US" altLang="zh-TW" dirty="0"/>
          </a:p>
          <a:p>
            <a:r>
              <a:rPr lang="zh-TW" altLang="en-US" dirty="0"/>
              <a:t>社群互動： 建立「可怕程度 </a:t>
            </a:r>
            <a:r>
              <a:rPr lang="en-US" altLang="zh-TW" dirty="0"/>
              <a:t>(Fear Score)</a:t>
            </a:r>
            <a:r>
              <a:rPr lang="zh-TW" altLang="en-US" dirty="0"/>
              <a:t>」回報機制，量化民眾的真實感受。</a:t>
            </a:r>
            <a:endParaRPr lang="en-US" altLang="zh-TW" dirty="0"/>
          </a:p>
          <a:p>
            <a:r>
              <a:rPr lang="zh-TW" altLang="en-US" dirty="0"/>
              <a:t>數據分析： 透過圖表分析近期地震頻率與規模分佈。</a:t>
            </a:r>
          </a:p>
        </p:txBody>
      </p:sp>
    </p:spTree>
    <p:extLst>
      <p:ext uri="{BB962C8B-B14F-4D97-AF65-F5344CB8AC3E}">
        <p14:creationId xmlns:p14="http://schemas.microsoft.com/office/powerpoint/2010/main" val="249305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FDB43CD-79C3-9615-5076-2BA36384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核心需求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E68665DD-99A7-356F-8313-B4ED0DA24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資料串接： 後端自動化抓取氣象署 </a:t>
            </a:r>
            <a:r>
              <a:rPr lang="en-US" altLang="zh-TW" sz="2400" dirty="0"/>
              <a:t>E-A0016-001 API</a:t>
            </a:r>
            <a:r>
              <a:rPr lang="zh-TW" altLang="en-US" sz="2400" dirty="0"/>
              <a:t>，使用 </a:t>
            </a:r>
            <a:r>
              <a:rPr lang="en-US" altLang="zh-TW" sz="2400" dirty="0" err="1"/>
              <a:t>cURL</a:t>
            </a:r>
            <a:r>
              <a:rPr lang="en-US" altLang="zh-TW" sz="2400" dirty="0"/>
              <a:t> </a:t>
            </a:r>
            <a:r>
              <a:rPr lang="zh-TW" altLang="en-US" sz="2400" dirty="0"/>
              <a:t>技術同步數據。</a:t>
            </a:r>
            <a:endParaRPr lang="en-US" altLang="zh-TW" sz="2400" dirty="0"/>
          </a:p>
          <a:p>
            <a:r>
              <a:rPr lang="zh-TW" altLang="en-US" sz="2400" dirty="0"/>
              <a:t>地圖視覺化： 支援多圖層切換（地震圓點、熱力圖、斷層線、板塊邊界）。</a:t>
            </a:r>
            <a:endParaRPr lang="en-US" altLang="zh-TW" sz="2400" dirty="0"/>
          </a:p>
          <a:p>
            <a:r>
              <a:rPr lang="zh-TW" altLang="en-US" sz="2400" dirty="0"/>
              <a:t>互動體驗： 點擊列表自動定位 </a:t>
            </a:r>
            <a:r>
              <a:rPr lang="en-US" altLang="zh-TW" sz="2400" dirty="0"/>
              <a:t>(</a:t>
            </a:r>
            <a:r>
              <a:rPr lang="en-US" altLang="zh-TW" sz="2400" dirty="0" err="1"/>
              <a:t>FlyTo</a:t>
            </a:r>
            <a:r>
              <a:rPr lang="en-US" altLang="zh-TW" sz="2400" dirty="0"/>
              <a:t>) </a:t>
            </a:r>
            <a:r>
              <a:rPr lang="zh-TW" altLang="en-US" sz="2400" dirty="0"/>
              <a:t>至震央，並提供沉浸式影片背景。</a:t>
            </a:r>
            <a:endParaRPr lang="en-US" altLang="zh-TW" sz="2400" dirty="0"/>
          </a:p>
          <a:p>
            <a:r>
              <a:rPr lang="zh-TW" altLang="en-US" sz="2400" dirty="0"/>
              <a:t>社群回報： 實名制登入後，可針對特定地震進行 </a:t>
            </a:r>
            <a:r>
              <a:rPr lang="en-US" altLang="zh-TW" sz="2400" dirty="0"/>
              <a:t>1-10 </a:t>
            </a:r>
            <a:r>
              <a:rPr lang="zh-TW" altLang="en-US" sz="2400" dirty="0"/>
              <a:t>分的恐懼程度評分。</a:t>
            </a:r>
            <a:endParaRPr lang="en-US" altLang="zh-TW" sz="2400" dirty="0"/>
          </a:p>
          <a:p>
            <a:r>
              <a:rPr lang="zh-TW" altLang="en-US" sz="2400" dirty="0"/>
              <a:t>即時篩選： 前端即時過濾不同規模 </a:t>
            </a:r>
            <a:r>
              <a:rPr lang="en-US" altLang="zh-TW" sz="2400" dirty="0"/>
              <a:t>(</a:t>
            </a:r>
            <a:r>
              <a:rPr lang="zh-TW" altLang="en-US" sz="2400" dirty="0"/>
              <a:t>如 </a:t>
            </a:r>
            <a:r>
              <a:rPr lang="en-US" altLang="zh-TW" sz="2400" dirty="0"/>
              <a:t>&gt;4.0) </a:t>
            </a:r>
            <a:r>
              <a:rPr lang="zh-TW" altLang="en-US" sz="2400" dirty="0"/>
              <a:t>的地震資訊，無需重新載入頁面。</a:t>
            </a:r>
          </a:p>
        </p:txBody>
      </p:sp>
    </p:spTree>
    <p:extLst>
      <p:ext uri="{BB962C8B-B14F-4D97-AF65-F5344CB8AC3E}">
        <p14:creationId xmlns:p14="http://schemas.microsoft.com/office/powerpoint/2010/main" val="388583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3D3EBA8-12AE-8F80-D0FE-CA1080FC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資料庫設計</a:t>
            </a:r>
            <a:r>
              <a:rPr lang="en-US" altLang="zh-TW" dirty="0"/>
              <a:t>: </a:t>
            </a:r>
            <a:r>
              <a:rPr lang="en-US" altLang="zh-TW" dirty="0" err="1"/>
              <a:t>earthquake_system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6163DF6-4091-1E6F-104F-D32BB6DA1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2218267"/>
            <a:ext cx="4996923" cy="576262"/>
          </a:xfrm>
        </p:spPr>
        <p:txBody>
          <a:bodyPr/>
          <a:lstStyle/>
          <a:p>
            <a:r>
              <a:rPr lang="zh-TW" altLang="en-US" dirty="0"/>
              <a:t>資料表清單：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BDA1DEB-84F8-1E6C-C07E-C28851F8F3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users</a:t>
            </a:r>
            <a:r>
              <a:rPr lang="zh-TW" altLang="en-US" dirty="0"/>
              <a:t>：儲存管理者與使用者帳號、密碼與權限。</a:t>
            </a:r>
            <a:endParaRPr lang="en-US" altLang="zh-TW" dirty="0"/>
          </a:p>
          <a:p>
            <a:r>
              <a:rPr lang="en-US" altLang="zh-TW" dirty="0" err="1"/>
              <a:t>earthquake_data</a:t>
            </a:r>
            <a:r>
              <a:rPr lang="zh-TW" altLang="en-US" dirty="0"/>
              <a:t>：儲存官方地震觀測數據 </a:t>
            </a:r>
            <a:r>
              <a:rPr lang="en-US" altLang="zh-TW" dirty="0"/>
              <a:t>(</a:t>
            </a:r>
            <a:r>
              <a:rPr lang="zh-TW" altLang="en-US" dirty="0"/>
              <a:t>唯一鍵值防止重複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 err="1"/>
              <a:t>fear_reports</a:t>
            </a:r>
            <a:r>
              <a:rPr lang="zh-TW" altLang="en-US" dirty="0"/>
              <a:t>：儲存使用者對特定地震的主觀評分 </a:t>
            </a:r>
            <a:r>
              <a:rPr lang="en-US" altLang="zh-TW" dirty="0"/>
              <a:t>(</a:t>
            </a:r>
            <a:r>
              <a:rPr lang="zh-TW" altLang="en-US" dirty="0"/>
              <a:t>關聯表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EBBF666-4F75-C2C4-A5F9-74E434141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1895" y="2226734"/>
            <a:ext cx="4996922" cy="576262"/>
          </a:xfrm>
        </p:spPr>
        <p:txBody>
          <a:bodyPr/>
          <a:lstStyle/>
          <a:p>
            <a:r>
              <a:rPr lang="en-US" altLang="zh-TW" dirty="0"/>
              <a:t>ER </a:t>
            </a:r>
            <a:r>
              <a:rPr lang="zh-TW" altLang="en-US" dirty="0"/>
              <a:t>圖表關係說明：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3528E909-87E4-85A1-EDE3-144657009E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TW" dirty="0"/>
              <a:t>1 </a:t>
            </a:r>
            <a:r>
              <a:rPr lang="zh-TW" altLang="en-US" dirty="0"/>
              <a:t>對 多 </a:t>
            </a:r>
            <a:r>
              <a:rPr lang="en-US" altLang="zh-TW" dirty="0"/>
              <a:t>(Users -&gt; </a:t>
            </a:r>
            <a:r>
              <a:rPr lang="en-US" altLang="zh-TW" dirty="0" err="1"/>
              <a:t>Fear_Reports</a:t>
            </a:r>
            <a:r>
              <a:rPr lang="en-US" altLang="zh-TW" dirty="0"/>
              <a:t>)</a:t>
            </a:r>
            <a:r>
              <a:rPr lang="zh-TW" altLang="en-US" dirty="0"/>
              <a:t>： 一個使用者可以提交多筆回報。</a:t>
            </a:r>
            <a:endParaRPr lang="en-US" altLang="zh-TW" dirty="0"/>
          </a:p>
          <a:p>
            <a:r>
              <a:rPr lang="en-US" altLang="zh-TW" dirty="0"/>
              <a:t>1 </a:t>
            </a:r>
            <a:r>
              <a:rPr lang="zh-TW" altLang="en-US" dirty="0"/>
              <a:t>對 多 </a:t>
            </a:r>
            <a:r>
              <a:rPr lang="en-US" altLang="zh-TW" dirty="0"/>
              <a:t>(</a:t>
            </a:r>
            <a:r>
              <a:rPr lang="en-US" altLang="zh-TW" dirty="0" err="1"/>
              <a:t>Earthquake_Data</a:t>
            </a:r>
            <a:r>
              <a:rPr lang="en-US" altLang="zh-TW" dirty="0"/>
              <a:t> -&gt; </a:t>
            </a:r>
            <a:r>
              <a:rPr lang="en-US" altLang="zh-TW" dirty="0" err="1"/>
              <a:t>Fear_Reports</a:t>
            </a:r>
            <a:r>
              <a:rPr lang="en-US" altLang="zh-TW" dirty="0"/>
              <a:t>)</a:t>
            </a:r>
            <a:r>
              <a:rPr lang="zh-TW" altLang="en-US" dirty="0"/>
              <a:t>： 一起地震可以擁有多個使用者的回報數據。</a:t>
            </a:r>
            <a:endParaRPr lang="en-US" altLang="zh-TW" dirty="0"/>
          </a:p>
          <a:p>
            <a:r>
              <a:rPr lang="zh-TW" altLang="en-US" dirty="0"/>
              <a:t>聚合查詢： 系統透過 </a:t>
            </a:r>
            <a:r>
              <a:rPr lang="en-US" altLang="zh-TW" dirty="0"/>
              <a:t>SQL </a:t>
            </a:r>
            <a:r>
              <a:rPr lang="zh-TW" altLang="en-US" dirty="0"/>
              <a:t>子查詢 </a:t>
            </a:r>
            <a:r>
              <a:rPr lang="en-US" altLang="zh-TW" dirty="0"/>
              <a:t>(Subquery) </a:t>
            </a:r>
            <a:r>
              <a:rPr lang="zh-TW" altLang="en-US" dirty="0"/>
              <a:t>即時計算每起地震的「平均恐懼分數」與「回報人數」。</a:t>
            </a:r>
          </a:p>
        </p:txBody>
      </p:sp>
    </p:spTree>
    <p:extLst>
      <p:ext uri="{BB962C8B-B14F-4D97-AF65-F5344CB8AC3E}">
        <p14:creationId xmlns:p14="http://schemas.microsoft.com/office/powerpoint/2010/main" val="333374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97F7D345-7226-67E7-529D-99EA1C192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1" y="0"/>
            <a:ext cx="10594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92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64BF1-4FC1-B9C0-3273-B89A3DF8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功能介紹 </a:t>
            </a:r>
            <a:r>
              <a:rPr lang="en-US" altLang="zh-TW" dirty="0"/>
              <a:t>- </a:t>
            </a:r>
            <a:r>
              <a:rPr lang="zh-TW" altLang="en-US" dirty="0"/>
              <a:t>身分驗證與安全管理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05451B-C978-8B7E-E383-F45189D5A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2218267"/>
            <a:ext cx="2604406" cy="576262"/>
          </a:xfrm>
        </p:spPr>
        <p:txBody>
          <a:bodyPr/>
          <a:lstStyle/>
          <a:p>
            <a:r>
              <a:rPr lang="zh-TW" altLang="en-US" dirty="0"/>
              <a:t>註冊驗證機制：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D4B266-3A60-1074-2063-55E180700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2604407" cy="2920998"/>
          </a:xfrm>
        </p:spPr>
        <p:txBody>
          <a:bodyPr/>
          <a:lstStyle/>
          <a:p>
            <a:r>
              <a:rPr lang="zh-TW" altLang="en-US" dirty="0"/>
              <a:t>帳號檢查： 註冊時自動比對資料庫，防止帳號重複 </a:t>
            </a:r>
            <a:r>
              <a:rPr lang="en-US" altLang="zh-TW" dirty="0"/>
              <a:t>(SELECT id FROM users...)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密碼確認： 強制要求二次輸入密碼，確保輸入無誤。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C66AB8-0033-02D5-7353-F91313CE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997779" y="2232177"/>
            <a:ext cx="2604407" cy="576262"/>
          </a:xfrm>
        </p:spPr>
        <p:txBody>
          <a:bodyPr/>
          <a:lstStyle/>
          <a:p>
            <a:r>
              <a:rPr lang="zh-TW" altLang="en-US" dirty="0"/>
              <a:t>資安防護技術：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01F8BB-DC51-A3C8-6FCA-C00CBC254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997779" y="2870201"/>
            <a:ext cx="3133119" cy="2920998"/>
          </a:xfrm>
        </p:spPr>
        <p:txBody>
          <a:bodyPr/>
          <a:lstStyle/>
          <a:p>
            <a:r>
              <a:rPr lang="zh-TW" altLang="en-US" dirty="0"/>
              <a:t>密碼加密： 採用 </a:t>
            </a:r>
            <a:r>
              <a:rPr lang="en-US" altLang="zh-TW" dirty="0"/>
              <a:t>SHA-256 </a:t>
            </a:r>
            <a:r>
              <a:rPr lang="zh-TW" altLang="en-US" dirty="0"/>
              <a:t>雜湊演算法將密碼加密後存入資料庫，確保資料外洩時不會暴露原始密碼。</a:t>
            </a:r>
            <a:endParaRPr lang="en-US" altLang="zh-TW" dirty="0"/>
          </a:p>
          <a:p>
            <a:r>
              <a:rPr lang="zh-TW" altLang="en-US" dirty="0"/>
              <a:t>防止 </a:t>
            </a:r>
            <a:r>
              <a:rPr lang="en-US" altLang="zh-TW" dirty="0"/>
              <a:t>SQL Injection</a:t>
            </a:r>
            <a:r>
              <a:rPr lang="zh-TW" altLang="en-US" dirty="0"/>
              <a:t>： 全面使用 </a:t>
            </a:r>
            <a:r>
              <a:rPr lang="en-US" altLang="zh-TW" dirty="0"/>
              <a:t>PDO </a:t>
            </a:r>
            <a:r>
              <a:rPr lang="zh-TW" altLang="en-US" dirty="0"/>
              <a:t>預處理指令 </a:t>
            </a:r>
            <a:r>
              <a:rPr lang="en-US" altLang="zh-TW" dirty="0"/>
              <a:t>(Prepared Statements) </a:t>
            </a:r>
            <a:r>
              <a:rPr lang="zh-TW" altLang="en-US" dirty="0"/>
              <a:t>進行資料庫操作，杜絕惡意 </a:t>
            </a:r>
            <a:r>
              <a:rPr lang="en-US" altLang="zh-TW" dirty="0"/>
              <a:t>SQL </a:t>
            </a:r>
            <a:r>
              <a:rPr lang="zh-TW" altLang="en-US" dirty="0"/>
              <a:t>注入攻擊。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F7174E54-FF40-4C6C-5541-EC609CA30F43}"/>
              </a:ext>
            </a:extLst>
          </p:cNvPr>
          <p:cNvSpPr txBox="1">
            <a:spLocks/>
          </p:cNvSpPr>
          <p:nvPr/>
        </p:nvSpPr>
        <p:spPr>
          <a:xfrm>
            <a:off x="7734301" y="2232177"/>
            <a:ext cx="2604407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角色權限控管 ：</a:t>
            </a:r>
          </a:p>
        </p:txBody>
      </p:sp>
      <p:sp>
        <p:nvSpPr>
          <p:cNvPr id="10" name="內容版面配置區 5">
            <a:extLst>
              <a:ext uri="{FF2B5EF4-FFF2-40B4-BE49-F238E27FC236}">
                <a16:creationId xmlns:a16="http://schemas.microsoft.com/office/drawing/2014/main" id="{B1D8C046-72F4-8CF2-9E4D-80E63C0E2433}"/>
              </a:ext>
            </a:extLst>
          </p:cNvPr>
          <p:cNvSpPr txBox="1">
            <a:spLocks/>
          </p:cNvSpPr>
          <p:nvPr/>
        </p:nvSpPr>
        <p:spPr>
          <a:xfrm>
            <a:off x="7684107" y="2870201"/>
            <a:ext cx="3133119" cy="2920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一般使用者 </a:t>
            </a:r>
            <a:r>
              <a:rPr lang="en-US" altLang="zh-TW" dirty="0"/>
              <a:t>(Role 1)</a:t>
            </a:r>
            <a:r>
              <a:rPr lang="zh-TW" altLang="en-US" dirty="0"/>
              <a:t>： 僅可瀏覽資訊、使用篩選器與提交回報。</a:t>
            </a:r>
          </a:p>
          <a:p>
            <a:r>
              <a:rPr lang="zh-TW" altLang="en-US" dirty="0"/>
              <a:t>管理員 </a:t>
            </a:r>
            <a:r>
              <a:rPr lang="en-US" altLang="zh-TW" dirty="0"/>
              <a:t>(Role 0)</a:t>
            </a:r>
            <a:r>
              <a:rPr lang="zh-TW" altLang="en-US" dirty="0"/>
              <a:t>： 擁有執行 </a:t>
            </a:r>
            <a:r>
              <a:rPr lang="en-US" altLang="zh-TW" dirty="0" err="1"/>
              <a:t>eq_sync.php</a:t>
            </a:r>
            <a:r>
              <a:rPr lang="en-US" altLang="zh-TW" dirty="0"/>
              <a:t> </a:t>
            </a:r>
            <a:r>
              <a:rPr lang="zh-TW" altLang="en-US" dirty="0"/>
              <a:t>進行資料同步的專屬權限，系統會於後端再次驗證 </a:t>
            </a:r>
            <a:r>
              <a:rPr lang="en-US" altLang="zh-TW" dirty="0"/>
              <a:t>Session Role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6940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C01C82-9D7C-56C8-1820-7F79B793A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功能介紹 </a:t>
            </a:r>
            <a:r>
              <a:rPr lang="en-US" altLang="zh-TW" dirty="0"/>
              <a:t>- </a:t>
            </a:r>
            <a:r>
              <a:rPr lang="zh-TW" altLang="en-US" dirty="0"/>
              <a:t>沉浸式體驗與社群回報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00FF33-3A9A-6213-382C-00DA859CC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2218267"/>
            <a:ext cx="4996923" cy="576262"/>
          </a:xfrm>
        </p:spPr>
        <p:txBody>
          <a:bodyPr/>
          <a:lstStyle/>
          <a:p>
            <a:r>
              <a:rPr lang="zh-TW" altLang="en-US" dirty="0"/>
              <a:t>沉浸式介面：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332F05-F8FF-749A-D2A5-7DF176064D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動態背景： 系統背景採用全螢幕影片 </a:t>
            </a:r>
            <a:r>
              <a:rPr lang="en-US" altLang="zh-TW" dirty="0"/>
              <a:t>(light.mp4)</a:t>
            </a:r>
            <a:r>
              <a:rPr lang="zh-TW" altLang="en-US" dirty="0"/>
              <a:t>，配合半透明遮罩與深色模式 </a:t>
            </a:r>
            <a:r>
              <a:rPr lang="en-US" altLang="zh-TW" dirty="0"/>
              <a:t>(Dark Mode) UI</a:t>
            </a:r>
            <a:r>
              <a:rPr lang="zh-TW" altLang="en-US" dirty="0"/>
              <a:t>，提升科技感與閱讀舒適度。</a:t>
            </a:r>
            <a:endParaRPr lang="en-US" altLang="zh-TW" dirty="0"/>
          </a:p>
          <a:p>
            <a:r>
              <a:rPr lang="zh-TW" altLang="en-US" dirty="0"/>
              <a:t>互動列表： 左側列表與右側地圖連動，點擊卡片觸發 </a:t>
            </a:r>
            <a:r>
              <a:rPr lang="en-US" altLang="zh-TW" dirty="0" err="1"/>
              <a:t>map.flyTo</a:t>
            </a:r>
            <a:r>
              <a:rPr lang="en-US" altLang="zh-TW" dirty="0"/>
              <a:t>() </a:t>
            </a:r>
            <a:r>
              <a:rPr lang="zh-TW" altLang="en-US" dirty="0"/>
              <a:t>動畫，平滑移動至震央並彈出資訊視窗。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C18967-1E64-24B9-34AF-F4B6F442B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1893" y="2226734"/>
            <a:ext cx="4996923" cy="576262"/>
          </a:xfrm>
        </p:spPr>
        <p:txBody>
          <a:bodyPr/>
          <a:lstStyle/>
          <a:p>
            <a:r>
              <a:rPr lang="zh-TW" altLang="en-US" dirty="0"/>
              <a:t>量化恐懼：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44827A-89F2-BD48-8508-D4D911614E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TW" altLang="en-US" dirty="0"/>
              <a:t>滑桿評分： 設計 </a:t>
            </a:r>
            <a:r>
              <a:rPr lang="en-US" altLang="zh-TW" dirty="0"/>
              <a:t>1-10 </a:t>
            </a:r>
            <a:r>
              <a:rPr lang="zh-TW" altLang="en-US" dirty="0"/>
              <a:t>分的直觀滑桿，讓使用者回報當下感受。</a:t>
            </a:r>
            <a:endParaRPr lang="en-US" altLang="zh-TW" dirty="0"/>
          </a:p>
          <a:p>
            <a:r>
              <a:rPr lang="zh-TW" altLang="en-US" dirty="0"/>
              <a:t>即時統計： 系統自動計算並顯示「大眾平均恐懼分數」與「總回報人數」，讓數據更具人情味。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070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5B2AC-B694-0464-A25B-96330172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遭遇困難與解決方案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4DDAA2-9F5F-6253-C7F2-EB061DA0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2218267"/>
            <a:ext cx="4996923" cy="576262"/>
          </a:xfrm>
        </p:spPr>
        <p:txBody>
          <a:bodyPr/>
          <a:lstStyle/>
          <a:p>
            <a:r>
              <a:rPr lang="zh-TW" altLang="en-US" sz="2400" dirty="0"/>
              <a:t>困難 </a:t>
            </a:r>
            <a:r>
              <a:rPr lang="en-US" altLang="zh-TW" sz="2400" dirty="0"/>
              <a:t>1</a:t>
            </a:r>
            <a:r>
              <a:rPr lang="zh-TW" altLang="en-US" sz="2400" dirty="0"/>
              <a:t>：資料同步的重複性問題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2BCD0A3-670D-1F5C-B1C2-4634B893DD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問題： 氣象署 </a:t>
            </a:r>
            <a:r>
              <a:rPr lang="en-US" altLang="zh-TW" dirty="0"/>
              <a:t>API </a:t>
            </a:r>
            <a:r>
              <a:rPr lang="zh-TW" altLang="en-US" dirty="0"/>
              <a:t>資料會包含舊資料，若直接寫入會導致 </a:t>
            </a:r>
            <a:r>
              <a:rPr lang="en-US" altLang="zh-TW" dirty="0"/>
              <a:t>Primary Key </a:t>
            </a:r>
            <a:r>
              <a:rPr lang="zh-TW" altLang="en-US" dirty="0"/>
              <a:t>衝突或重複數據。</a:t>
            </a:r>
            <a:endParaRPr lang="en-US" altLang="zh-TW" dirty="0"/>
          </a:p>
          <a:p>
            <a:r>
              <a:rPr lang="zh-TW" altLang="en-US" dirty="0"/>
              <a:t>解決： 在 </a:t>
            </a:r>
            <a:r>
              <a:rPr lang="en-US" altLang="zh-TW" dirty="0"/>
              <a:t>SQL </a:t>
            </a:r>
            <a:r>
              <a:rPr lang="zh-TW" altLang="en-US" dirty="0"/>
              <a:t>使用 </a:t>
            </a:r>
            <a:r>
              <a:rPr lang="en-US" altLang="zh-TW" dirty="0"/>
              <a:t>INSERT IGNORE </a:t>
            </a:r>
            <a:r>
              <a:rPr lang="zh-TW" altLang="en-US" dirty="0"/>
              <a:t>指令，並設定 </a:t>
            </a:r>
            <a:r>
              <a:rPr lang="en-US" altLang="zh-TW" dirty="0"/>
              <a:t>UNIQUE KEY (</a:t>
            </a:r>
            <a:r>
              <a:rPr lang="en-US" altLang="zh-TW" dirty="0" err="1"/>
              <a:t>origin_time</a:t>
            </a:r>
            <a:r>
              <a:rPr lang="en-US" altLang="zh-TW" dirty="0"/>
              <a:t>, longitude, latitude)</a:t>
            </a:r>
            <a:r>
              <a:rPr lang="zh-TW" altLang="en-US" dirty="0"/>
              <a:t>，系統會自動忽略已存在的地震紀錄，僅寫入新資料。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51435A6-77BD-F080-DE62-7D0ADE4D1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1895" y="2226734"/>
            <a:ext cx="4996922" cy="576262"/>
          </a:xfrm>
        </p:spPr>
        <p:txBody>
          <a:bodyPr/>
          <a:lstStyle/>
          <a:p>
            <a:r>
              <a:rPr lang="zh-TW" altLang="en-US" sz="2400" dirty="0"/>
              <a:t>困難 </a:t>
            </a:r>
            <a:r>
              <a:rPr lang="en-US" altLang="zh-TW" sz="2400" dirty="0"/>
              <a:t>2</a:t>
            </a:r>
            <a:r>
              <a:rPr lang="zh-TW" altLang="en-US" sz="2400" dirty="0"/>
              <a:t>：地圖圖層的效能與管理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7CF0A1-D6AB-45E0-CE40-C5A53B0C55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TW" altLang="en-US" dirty="0"/>
              <a:t>問題： 同時開啟大量 </a:t>
            </a:r>
            <a:r>
              <a:rPr lang="en-US" altLang="zh-TW" dirty="0"/>
              <a:t>Marker </a:t>
            </a:r>
            <a:r>
              <a:rPr lang="zh-TW" altLang="en-US" dirty="0"/>
              <a:t>與 </a:t>
            </a:r>
            <a:r>
              <a:rPr lang="en-US" altLang="zh-TW" dirty="0"/>
              <a:t>Heatmap </a:t>
            </a:r>
            <a:r>
              <a:rPr lang="zh-TW" altLang="en-US" dirty="0"/>
              <a:t>會導致畫面雜亂且效能下降。</a:t>
            </a:r>
            <a:endParaRPr lang="en-US" altLang="zh-TW" dirty="0"/>
          </a:p>
          <a:p>
            <a:r>
              <a:rPr lang="zh-TW" altLang="en-US" dirty="0"/>
              <a:t>解決： 使用 </a:t>
            </a:r>
            <a:r>
              <a:rPr lang="en-US" altLang="zh-TW" dirty="0"/>
              <a:t>Leaflet </a:t>
            </a:r>
            <a:r>
              <a:rPr lang="zh-TW" altLang="en-US" dirty="0"/>
              <a:t>的 </a:t>
            </a:r>
            <a:r>
              <a:rPr lang="en-US" altLang="zh-TW" dirty="0" err="1"/>
              <a:t>LayerGroup</a:t>
            </a:r>
            <a:r>
              <a:rPr lang="en-US" altLang="zh-TW" dirty="0"/>
              <a:t> </a:t>
            </a:r>
            <a:r>
              <a:rPr lang="zh-TW" altLang="en-US" dirty="0"/>
              <a:t>進行群組管理，並透過 </a:t>
            </a:r>
            <a:r>
              <a:rPr lang="en-US" altLang="zh-TW" dirty="0" err="1"/>
              <a:t>L.control.layers</a:t>
            </a:r>
            <a:r>
              <a:rPr lang="en-US" altLang="zh-TW" dirty="0"/>
              <a:t> </a:t>
            </a:r>
            <a:r>
              <a:rPr lang="zh-TW" altLang="en-US" dirty="0"/>
              <a:t>建立圖層控制器，讓使用者可依需求自由開關「斷層」、「板塊」或「熱力圖」。</a:t>
            </a:r>
          </a:p>
        </p:txBody>
      </p:sp>
    </p:spTree>
    <p:extLst>
      <p:ext uri="{BB962C8B-B14F-4D97-AF65-F5344CB8AC3E}">
        <p14:creationId xmlns:p14="http://schemas.microsoft.com/office/powerpoint/2010/main" val="932980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D58BC90-454D-7295-F442-4E473D63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  <a:r>
              <a:rPr lang="en-US" altLang="zh-TW" dirty="0"/>
              <a:t>-</a:t>
            </a:r>
            <a:r>
              <a:rPr lang="zh-TW" altLang="en-US" dirty="0"/>
              <a:t>專案成果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698427F1-96F5-A9EA-B586-C1ED709C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成功建立了一個整合「官方數據」與「民眾感受」的地震觀測平台。</a:t>
            </a:r>
            <a:endParaRPr lang="en-US" altLang="zh-TW" sz="2800" dirty="0"/>
          </a:p>
          <a:p>
            <a:r>
              <a:rPr lang="zh-TW" altLang="en-US" sz="2800" dirty="0"/>
              <a:t>實現了從後端 </a:t>
            </a:r>
            <a:r>
              <a:rPr lang="en-US" altLang="zh-TW" sz="2800" dirty="0"/>
              <a:t>API </a:t>
            </a:r>
            <a:r>
              <a:rPr lang="zh-TW" altLang="en-US" sz="2800" dirty="0"/>
              <a:t>抓取、資料庫儲存到前端 </a:t>
            </a:r>
            <a:r>
              <a:rPr lang="en-US" altLang="zh-TW" sz="2800" dirty="0"/>
              <a:t>GIS </a:t>
            </a:r>
            <a:r>
              <a:rPr lang="zh-TW" altLang="en-US" sz="2800" dirty="0"/>
              <a:t>視覺化的完整全端開發流程。</a:t>
            </a:r>
          </a:p>
        </p:txBody>
      </p:sp>
    </p:spTree>
    <p:extLst>
      <p:ext uri="{BB962C8B-B14F-4D97-AF65-F5344CB8AC3E}">
        <p14:creationId xmlns:p14="http://schemas.microsoft.com/office/powerpoint/2010/main" val="167612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5957A-498F-250E-BFC6-FAC2FBE6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技術引用清單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2D0D03-D713-B58B-C966-7D258C209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資料來源： 中央氣象署 </a:t>
            </a:r>
            <a:r>
              <a:rPr lang="en-US" altLang="zh-TW" sz="2800" dirty="0"/>
              <a:t>Open Data API (E-A0016-001 </a:t>
            </a:r>
            <a:r>
              <a:rPr lang="zh-TW" altLang="en-US" sz="2800" dirty="0"/>
              <a:t>小區域有感地震報告</a:t>
            </a:r>
            <a:r>
              <a:rPr lang="en-US" altLang="zh-TW" sz="2800" dirty="0"/>
              <a:t>)</a:t>
            </a:r>
            <a:r>
              <a:rPr lang="zh-TW" altLang="en-US" sz="2800" dirty="0"/>
              <a:t>。</a:t>
            </a:r>
            <a:endParaRPr lang="en-US" altLang="zh-TW" sz="2800" dirty="0"/>
          </a:p>
          <a:p>
            <a:r>
              <a:rPr lang="zh-TW" altLang="en-US" sz="2800" dirty="0"/>
              <a:t>前端框架： </a:t>
            </a:r>
            <a:r>
              <a:rPr lang="en-US" altLang="zh-TW" sz="2800" dirty="0"/>
              <a:t>Leaflet.js (</a:t>
            </a:r>
            <a:r>
              <a:rPr lang="zh-TW" altLang="en-US" sz="2800" dirty="0"/>
              <a:t>地圖</a:t>
            </a:r>
            <a:r>
              <a:rPr lang="en-US" altLang="zh-TW" sz="2800" dirty="0"/>
              <a:t>)</a:t>
            </a:r>
            <a:r>
              <a:rPr lang="zh-TW" altLang="en-US" sz="2800" dirty="0"/>
              <a:t>、</a:t>
            </a:r>
            <a:r>
              <a:rPr lang="en-US" altLang="zh-TW" sz="2800" dirty="0" err="1"/>
              <a:t>Leaflet.heat</a:t>
            </a:r>
            <a:r>
              <a:rPr lang="en-US" altLang="zh-TW" sz="2800" dirty="0"/>
              <a:t> (</a:t>
            </a:r>
            <a:r>
              <a:rPr lang="zh-TW" altLang="en-US" sz="2800" dirty="0"/>
              <a:t>熱力圖</a:t>
            </a:r>
            <a:r>
              <a:rPr lang="en-US" altLang="zh-TW" sz="2800" dirty="0"/>
              <a:t>)</a:t>
            </a:r>
            <a:r>
              <a:rPr lang="zh-TW" altLang="en-US" sz="2800" dirty="0"/>
              <a:t>、</a:t>
            </a:r>
            <a:r>
              <a:rPr lang="en-US" altLang="zh-TW" sz="2800" dirty="0"/>
              <a:t>Chart.js (</a:t>
            </a:r>
            <a:r>
              <a:rPr lang="zh-TW" altLang="en-US" sz="2800" dirty="0"/>
              <a:t>圖表</a:t>
            </a:r>
            <a:r>
              <a:rPr lang="en-US" altLang="zh-TW" sz="2800" dirty="0"/>
              <a:t>)</a:t>
            </a:r>
            <a:r>
              <a:rPr lang="zh-TW" altLang="en-US" sz="2800" dirty="0"/>
              <a:t>。</a:t>
            </a:r>
            <a:endParaRPr lang="en-US" altLang="zh-TW" sz="2800" dirty="0"/>
          </a:p>
          <a:p>
            <a:r>
              <a:rPr lang="zh-TW" altLang="en-US" sz="2800" dirty="0"/>
              <a:t>後端技術： </a:t>
            </a:r>
            <a:r>
              <a:rPr lang="en-US" altLang="zh-TW" sz="2800" dirty="0"/>
              <a:t>PHP 7+, PDO, </a:t>
            </a:r>
            <a:r>
              <a:rPr lang="en-US" altLang="zh-TW" sz="2800" dirty="0" err="1"/>
              <a:t>cURL</a:t>
            </a:r>
            <a:r>
              <a:rPr lang="zh-TW" altLang="en-US" sz="2800" dirty="0"/>
              <a:t>。</a:t>
            </a:r>
            <a:endParaRPr lang="en-US" altLang="zh-TW" sz="2800" dirty="0"/>
          </a:p>
          <a:p>
            <a:r>
              <a:rPr lang="zh-TW" altLang="en-US" sz="2800" dirty="0"/>
              <a:t>資料庫： </a:t>
            </a:r>
            <a:r>
              <a:rPr lang="en-US" altLang="zh-TW" sz="2800" dirty="0"/>
              <a:t>MySQL (</a:t>
            </a:r>
            <a:r>
              <a:rPr lang="en-US" altLang="zh-TW" sz="2800" dirty="0" err="1"/>
              <a:t>InnoDB</a:t>
            </a:r>
            <a:r>
              <a:rPr lang="en-US" altLang="zh-TW" sz="2800" dirty="0"/>
              <a:t> Engine)</a:t>
            </a:r>
            <a:r>
              <a:rPr lang="zh-TW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56109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體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{8D2EF73B-3FEA-4298-B8B7-E238CC75EFAE}TFb5ae2469-0bae-4978-b0e0-39dd046150ffc91c2827-5a57db25e065</Template>
  <TotalTime>55</TotalTime>
  <Words>942</Words>
  <Application>Microsoft Office PowerPoint</Application>
  <PresentationFormat>寬螢幕</PresentationFormat>
  <Paragraphs>61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天體</vt:lpstr>
      <vt:lpstr>台灣小區域地震觀測網</vt:lpstr>
      <vt:lpstr>主題介紹</vt:lpstr>
      <vt:lpstr>核心需求</vt:lpstr>
      <vt:lpstr>資料庫設計: earthquake_system</vt:lpstr>
      <vt:lpstr>PowerPoint 簡報</vt:lpstr>
      <vt:lpstr>功能介紹 - 身分驗證與安全管理</vt:lpstr>
      <vt:lpstr>功能介紹 - 沉浸式體驗與社群回報</vt:lpstr>
      <vt:lpstr>遭遇困難與解決方案:</vt:lpstr>
      <vt:lpstr>結論-專案成果</vt:lpstr>
      <vt:lpstr>技術引用清單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晋峰 楊</dc:creator>
  <cp:lastModifiedBy>晋峰 楊</cp:lastModifiedBy>
  <cp:revision>1</cp:revision>
  <dcterms:created xsi:type="dcterms:W3CDTF">2026-01-07T08:12:25Z</dcterms:created>
  <dcterms:modified xsi:type="dcterms:W3CDTF">2026-01-07T09:07:53Z</dcterms:modified>
</cp:coreProperties>
</file>